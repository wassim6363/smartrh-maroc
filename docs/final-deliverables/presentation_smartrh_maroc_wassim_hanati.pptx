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Présenter l’identité du stage, le contexte académique et annoncer que la soutenance porte sur un SaaS RH et paie marocain.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Annoncer le fil conducteur : partir du besoin RH, expliquer la solution, puis détailler l’architecture, les modules et les résultats de validation.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Présenter brièvement l’entreprise d’accueil et le cadre du stage sans entrer trop tôt dans la technique.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Expliquer que le projet répond à un besoin opérationnel : réduire la dispersion, automatiser les tâches et sécuriser les informations sensibles.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Insister sur l’équilibre entre automatisation et validation métier : le logiciel aide, mais les paramètres de paie doivent être contrôlés.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Présenter SmartRH comme une plateforme complète : back-office Filament pour l’administration et portail salarié pour l’accès individuel.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Relier les objectifs aux livrables réels du projet et à la préparation d’une démonstration client.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Expliquer les droits principaux et rappeler que l’accès salarié reste limité à ses propres données.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Lister les modules sans longues phrases. Mentionner que les noms proviennent du projet inspecté.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Décrire l’architecture : routes publiques, admin Filament, portail salarié, services métier, base de données et stockage privé.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Préciser que le choix technique est une base partagée multi-tenant, avec filtrage par société.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Parcourir le flux : période, éléments de paie, calcul, génération, stockage et téléchargement.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Mettre l’accent sur la séparation entre frais professionnels fiscaux et net à payer. Ajouter le disclaimer légal oralement.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Expliquer que les documents sont générés par HrDocumentGenerator et ContractGeneratorService, avec stockage privé.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Présenter les fonctionnalités du portail salarié et la séparation avec l’espace admin.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Résumer les garanties de sécurité vérifiées : rôle, company scope, portail salarié et routes de téléchargement contrôlées.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Dire que les tests ont été relancés sur le projet et que le résultat est confirmé : 132 tests passés, 545 assertions.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Conclure sur les acquis du stage, les forces du projet et la nécessité de validation par un expert-comptable et un juriste marocain avant production.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3D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laragon\www\smartrh-maroc\public\images\branding\smartrh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502920"/>
            <a:ext cx="2468880" cy="60350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1828800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SmartRH Maroc</a:t>
            </a:r>
            <a:endParaRPr lang="en-US" sz="3800" dirty="0"/>
          </a:p>
        </p:txBody>
      </p:sp>
      <p:sp>
        <p:nvSpPr>
          <p:cNvPr id="4" name="Text 1"/>
          <p:cNvSpPr/>
          <p:nvPr/>
        </p:nvSpPr>
        <p:spPr>
          <a:xfrm>
            <a:off x="713232" y="2633472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DFFA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 SaaS RH et paie pour les entreprises marocaines</a:t>
            </a:r>
            <a:endParaRPr lang="en-US" sz="1900" dirty="0"/>
          </a:p>
        </p:txBody>
      </p:sp>
      <p:sp>
        <p:nvSpPr>
          <p:cNvPr id="5" name="Shape 2"/>
          <p:cNvSpPr/>
          <p:nvPr/>
        </p:nvSpPr>
        <p:spPr>
          <a:xfrm>
            <a:off x="713232" y="3657600"/>
            <a:ext cx="3703320" cy="1389888"/>
          </a:xfrm>
          <a:prstGeom prst="roundRect">
            <a:avLst>
              <a:gd name="adj" fmla="val 3947"/>
            </a:avLst>
          </a:prstGeom>
          <a:solidFill>
            <a:srgbClr val="0B4F50"/>
          </a:solidFill>
          <a:ln w="12700">
            <a:solidFill>
              <a:srgbClr val="D7E9E6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77824" y="3785616"/>
            <a:ext cx="33741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Stagiaire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877824" y="4096512"/>
            <a:ext cx="3374136" cy="8869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Wassim Hanati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Développement Digital Full Stack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4617720" y="3657600"/>
            <a:ext cx="3657600" cy="1389888"/>
          </a:xfrm>
          <a:prstGeom prst="roundRect">
            <a:avLst>
              <a:gd name="adj" fmla="val 3947"/>
            </a:avLst>
          </a:prstGeom>
          <a:solidFill>
            <a:srgbClr val="0B4F50"/>
          </a:solidFill>
          <a:ln w="12700">
            <a:solidFill>
              <a:srgbClr val="D7E9E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782312" y="3785616"/>
            <a:ext cx="33284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Cadre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4782312" y="4096512"/>
            <a:ext cx="3328416" cy="8869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ISTA CPFM Skhirat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LN WEB APP, Rabat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8503920" y="3657600"/>
            <a:ext cx="2560320" cy="1389888"/>
          </a:xfrm>
          <a:prstGeom prst="roundRect">
            <a:avLst>
              <a:gd name="adj" fmla="val 3947"/>
            </a:avLst>
          </a:prstGeom>
          <a:solidFill>
            <a:srgbClr val="0B4F50"/>
          </a:solidFill>
          <a:ln w="12700">
            <a:solidFill>
              <a:srgbClr val="D7E9E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668512" y="3785616"/>
            <a:ext cx="22311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8668512" y="4096512"/>
            <a:ext cx="2231136" cy="8869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 jours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 / 2027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731520" y="5943600"/>
            <a:ext cx="521208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DFFA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Encadrant : Prof. Hord Youssef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3D3E"/>
          </a:solidFill>
          <a:ln w="12700">
            <a:solidFill>
              <a:srgbClr val="0F3D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329184"/>
            <a:ext cx="2468880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30352" y="585216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F3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soutenance organisée du besoin vers la validation</a:t>
            </a:r>
            <a:endParaRPr lang="en-US" sz="2500" dirty="0"/>
          </a:p>
        </p:txBody>
      </p:sp>
      <p:pic>
        <p:nvPicPr>
          <p:cNvPr id="5" name="Image 0" descr="C:\laragon\www\smartrh-maroc\public\images\branding\smartrh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46920" y="292608"/>
            <a:ext cx="1920240" cy="4572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2920" y="6446520"/>
            <a:ext cx="11201400" cy="0"/>
          </a:xfrm>
          <a:prstGeom prst="line">
            <a:avLst/>
          </a:prstGeom>
          <a:noFill/>
          <a:ln w="12700">
            <a:solidFill>
              <a:srgbClr val="DDEBE9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30352" y="6510528"/>
            <a:ext cx="2103120" cy="164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SmartRH Maroc</a:t>
            </a: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>
            <a:off x="11292840" y="6473952"/>
            <a:ext cx="41148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F3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713232" y="1572768"/>
            <a:ext cx="7406640" cy="34747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Contexte et problématique</a:t>
            </a:r>
            <a:endParaRPr lang="en-US" sz="1700" dirty="0"/>
          </a:p>
          <a:p>
            <a:pPr marL="152400" indent="-1524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 SmartRH Maroc</a:t>
            </a:r>
            <a:endParaRPr lang="en-US" sz="1700" dirty="0"/>
          </a:p>
          <a:p>
            <a:pPr marL="152400" indent="-1524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et modules</a:t>
            </a:r>
            <a:endParaRPr lang="en-US" sz="1700" dirty="0"/>
          </a:p>
          <a:p>
            <a:pPr marL="152400" indent="-1524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Paie, documents et portail</a:t>
            </a:r>
            <a:endParaRPr lang="en-US" sz="1700" dirty="0"/>
          </a:p>
          <a:p>
            <a:pPr marL="152400" indent="-1524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Sécurité, tests et perspectives</a:t>
            </a:r>
            <a:endParaRPr lang="en-US" sz="1700" dirty="0"/>
          </a:p>
        </p:txBody>
      </p:sp>
      <p:sp>
        <p:nvSpPr>
          <p:cNvPr id="11" name="Shape 7"/>
          <p:cNvSpPr/>
          <p:nvPr/>
        </p:nvSpPr>
        <p:spPr>
          <a:xfrm>
            <a:off x="8458200" y="1691640"/>
            <a:ext cx="2423160" cy="1783080"/>
          </a:xfrm>
          <a:prstGeom prst="roundRect">
            <a:avLst>
              <a:gd name="adj" fmla="val 3077"/>
            </a:avLst>
          </a:prstGeom>
          <a:solidFill>
            <a:srgbClr val="ECFEFF"/>
          </a:solidFill>
          <a:ln w="12700">
            <a:solidFill>
              <a:srgbClr val="D7E9E6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8622792" y="1819656"/>
            <a:ext cx="2093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Preuve projet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8622792" y="2130552"/>
            <a:ext cx="2093976" cy="12801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Modules vérifiés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inspecté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Docs consultées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3D3E"/>
          </a:solidFill>
          <a:ln w="12700">
            <a:solidFill>
              <a:srgbClr val="0F3D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329184"/>
            <a:ext cx="2468880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ENTREPRISE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30352" y="585216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F3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LN WEB APP a fourni un cadre projet orienté produit SaaS</a:t>
            </a:r>
            <a:endParaRPr lang="en-US" sz="2500" dirty="0"/>
          </a:p>
        </p:txBody>
      </p:sp>
      <p:pic>
        <p:nvPicPr>
          <p:cNvPr id="5" name="Image 0" descr="C:\laragon\www\smartrh-maroc\public\images\branding\smartrh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46920" y="292608"/>
            <a:ext cx="1920240" cy="4572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2920" y="6446520"/>
            <a:ext cx="11201400" cy="0"/>
          </a:xfrm>
          <a:prstGeom prst="line">
            <a:avLst/>
          </a:prstGeom>
          <a:noFill/>
          <a:ln w="12700">
            <a:solidFill>
              <a:srgbClr val="DDEBE9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30352" y="6510528"/>
            <a:ext cx="2103120" cy="164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SmartRH Maroc</a:t>
            </a: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>
            <a:off x="11292840" y="6473952"/>
            <a:ext cx="41148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F3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713232" y="1572768"/>
            <a:ext cx="7406640" cy="34747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Entreprise d’accueil basée à Rabat</a:t>
            </a:r>
            <a:endParaRPr lang="en-US" sz="1700" dirty="0"/>
          </a:p>
          <a:p>
            <a:pPr marL="152400" indent="-1524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Projet réalisé sur 26 jours</a:t>
            </a:r>
            <a:endParaRPr lang="en-US" sz="1700" dirty="0"/>
          </a:p>
          <a:p>
            <a:pPr marL="152400" indent="-1524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Travail centré sur un MVP démontrable</a:t>
            </a:r>
            <a:endParaRPr lang="en-US" sz="1700" dirty="0"/>
          </a:p>
          <a:p>
            <a:pPr marL="152400" indent="-1524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Encadrement académique : Prof. Hord Youssef</a:t>
            </a:r>
            <a:endParaRPr lang="en-US" sz="1700" dirty="0"/>
          </a:p>
        </p:txBody>
      </p:sp>
      <p:sp>
        <p:nvSpPr>
          <p:cNvPr id="11" name="Shape 7"/>
          <p:cNvSpPr/>
          <p:nvPr/>
        </p:nvSpPr>
        <p:spPr>
          <a:xfrm>
            <a:off x="8458200" y="1691640"/>
            <a:ext cx="2423160" cy="1783080"/>
          </a:xfrm>
          <a:prstGeom prst="roundRect">
            <a:avLst>
              <a:gd name="adj" fmla="val 3077"/>
            </a:avLst>
          </a:prstGeom>
          <a:solidFill>
            <a:srgbClr val="ECFEFF"/>
          </a:solidFill>
          <a:ln w="12700">
            <a:solidFill>
              <a:srgbClr val="D7E9E6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8622792" y="1819656"/>
            <a:ext cx="2093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Preuve projet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8622792" y="2130552"/>
            <a:ext cx="2093976" cy="12801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Modules vérifiés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inspecté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Docs consultées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3D3E"/>
          </a:solidFill>
          <a:ln w="12700">
            <a:solidFill>
              <a:srgbClr val="0F3D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329184"/>
            <a:ext cx="2468880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30352" y="585216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F3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PME ont besoin de centraliser des opérations RH sensibles</a:t>
            </a:r>
            <a:endParaRPr lang="en-US" sz="2500" dirty="0"/>
          </a:p>
        </p:txBody>
      </p:sp>
      <p:pic>
        <p:nvPicPr>
          <p:cNvPr id="5" name="Image 0" descr="C:\laragon\www\smartrh-maroc\public\images\branding\smartrh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46920" y="292608"/>
            <a:ext cx="1920240" cy="4572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2920" y="6446520"/>
            <a:ext cx="11201400" cy="0"/>
          </a:xfrm>
          <a:prstGeom prst="line">
            <a:avLst/>
          </a:prstGeom>
          <a:noFill/>
          <a:ln w="12700">
            <a:solidFill>
              <a:srgbClr val="DDEBE9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30352" y="6510528"/>
            <a:ext cx="2103120" cy="164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SmartRH Maroc</a:t>
            </a: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>
            <a:off x="11292840" y="6473952"/>
            <a:ext cx="41148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F3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713232" y="1572768"/>
            <a:ext cx="7406640" cy="34747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Données salariés souvent dispersées</a:t>
            </a:r>
            <a:endParaRPr lang="en-US" sz="1700" dirty="0"/>
          </a:p>
          <a:p>
            <a:pPr marL="152400" indent="-1524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Documents RH générés manuellement</a:t>
            </a:r>
            <a:endParaRPr lang="en-US" sz="1700" dirty="0"/>
          </a:p>
          <a:p>
            <a:pPr marL="152400" indent="-1524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Paie nécessitant traçabilité et prudence</a:t>
            </a:r>
            <a:endParaRPr lang="en-US" sz="1700" dirty="0"/>
          </a:p>
          <a:p>
            <a:pPr marL="152400" indent="-1524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Abonnements SaaS à suivre par société</a:t>
            </a:r>
            <a:endParaRPr lang="en-US" sz="1700" dirty="0"/>
          </a:p>
        </p:txBody>
      </p:sp>
      <p:sp>
        <p:nvSpPr>
          <p:cNvPr id="11" name="Shape 7"/>
          <p:cNvSpPr/>
          <p:nvPr/>
        </p:nvSpPr>
        <p:spPr>
          <a:xfrm>
            <a:off x="8458200" y="1691640"/>
            <a:ext cx="2423160" cy="1783080"/>
          </a:xfrm>
          <a:prstGeom prst="roundRect">
            <a:avLst>
              <a:gd name="adj" fmla="val 3077"/>
            </a:avLst>
          </a:prstGeom>
          <a:solidFill>
            <a:srgbClr val="ECFEFF"/>
          </a:solidFill>
          <a:ln w="12700">
            <a:solidFill>
              <a:srgbClr val="D7E9E6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8622792" y="1819656"/>
            <a:ext cx="2093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Preuve projet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8622792" y="2130552"/>
            <a:ext cx="2093976" cy="12801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Modules vérifiés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inspecté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Docs consultées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3D3E"/>
          </a:solidFill>
          <a:ln w="12700">
            <a:solidFill>
              <a:srgbClr val="0F3D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329184"/>
            <a:ext cx="2468880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PROBLÉMATIQUE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30352" y="585216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F3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Comment gérer RH, paie et documents dans un SaaS multi-sociétés ?</a:t>
            </a:r>
            <a:endParaRPr lang="en-US" sz="2500" dirty="0"/>
          </a:p>
        </p:txBody>
      </p:sp>
      <p:pic>
        <p:nvPicPr>
          <p:cNvPr id="5" name="Image 0" descr="C:\laragon\www\smartrh-maroc\public\images\branding\smartrh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46920" y="292608"/>
            <a:ext cx="1920240" cy="4572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2920" y="6446520"/>
            <a:ext cx="11201400" cy="0"/>
          </a:xfrm>
          <a:prstGeom prst="line">
            <a:avLst/>
          </a:prstGeom>
          <a:noFill/>
          <a:ln w="12700">
            <a:solidFill>
              <a:srgbClr val="DDEBE9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30352" y="6510528"/>
            <a:ext cx="2103120" cy="164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SmartRH Maroc</a:t>
            </a: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>
            <a:off x="11292840" y="6473952"/>
            <a:ext cx="41148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F3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713232" y="1572768"/>
            <a:ext cx="7406640" cy="34747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Isoler les données de chaque société</a:t>
            </a:r>
            <a:endParaRPr lang="en-US" sz="1700" dirty="0"/>
          </a:p>
          <a:p>
            <a:pPr marL="152400" indent="-1524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Automatiser sans figer les paramètres légaux</a:t>
            </a:r>
            <a:endParaRPr lang="en-US" sz="1700" dirty="0"/>
          </a:p>
          <a:p>
            <a:pPr marL="152400" indent="-1524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Produire des PDF privés et téléchargeables</a:t>
            </a:r>
            <a:endParaRPr lang="en-US" sz="1700" dirty="0"/>
          </a:p>
          <a:p>
            <a:pPr marL="152400" indent="-1524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Donner un accès contrôlé aux salariés</a:t>
            </a:r>
            <a:endParaRPr lang="en-US" sz="1700" dirty="0"/>
          </a:p>
        </p:txBody>
      </p:sp>
      <p:sp>
        <p:nvSpPr>
          <p:cNvPr id="11" name="Shape 7"/>
          <p:cNvSpPr/>
          <p:nvPr/>
        </p:nvSpPr>
        <p:spPr>
          <a:xfrm>
            <a:off x="8458200" y="1691640"/>
            <a:ext cx="2423160" cy="1783080"/>
          </a:xfrm>
          <a:prstGeom prst="roundRect">
            <a:avLst>
              <a:gd name="adj" fmla="val 3077"/>
            </a:avLst>
          </a:prstGeom>
          <a:solidFill>
            <a:srgbClr val="ECFEFF"/>
          </a:solidFill>
          <a:ln w="12700">
            <a:solidFill>
              <a:srgbClr val="D7E9E6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8622792" y="1819656"/>
            <a:ext cx="2093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Preuve projet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8622792" y="2130552"/>
            <a:ext cx="2093976" cy="12801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Modules vérifiés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inspecté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Docs consultées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3D3E"/>
          </a:solidFill>
          <a:ln w="12700">
            <a:solidFill>
              <a:srgbClr val="0F3D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329184"/>
            <a:ext cx="2468880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30352" y="585216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F3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SmartRH Maroc regroupe administration RH, paie et portail salarié</a:t>
            </a:r>
            <a:endParaRPr lang="en-US" sz="2500" dirty="0"/>
          </a:p>
        </p:txBody>
      </p:sp>
      <p:pic>
        <p:nvPicPr>
          <p:cNvPr id="5" name="Image 0" descr="C:\laragon\www\smartrh-maroc\public\images\branding\smartrh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46920" y="292608"/>
            <a:ext cx="1920240" cy="4572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2920" y="6446520"/>
            <a:ext cx="11201400" cy="0"/>
          </a:xfrm>
          <a:prstGeom prst="line">
            <a:avLst/>
          </a:prstGeom>
          <a:noFill/>
          <a:ln w="12700">
            <a:solidFill>
              <a:srgbClr val="DDEBE9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30352" y="6510528"/>
            <a:ext cx="2103120" cy="164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SmartRH Maroc</a:t>
            </a: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>
            <a:off x="11292840" y="6473952"/>
            <a:ext cx="41148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F3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900" dirty="0"/>
          </a:p>
        </p:txBody>
      </p:sp>
      <p:sp>
        <p:nvSpPr>
          <p:cNvPr id="10" name="Shape 6"/>
          <p:cNvSpPr/>
          <p:nvPr/>
        </p:nvSpPr>
        <p:spPr>
          <a:xfrm>
            <a:off x="685800" y="1508760"/>
            <a:ext cx="237744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D7E9E6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850392" y="1636776"/>
            <a:ext cx="2048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Filament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850392" y="1947672"/>
            <a:ext cx="2048256" cy="5486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Sociétés, RH, paie, documents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3337560" y="1508760"/>
            <a:ext cx="237744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D7E9E6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3502152" y="1636776"/>
            <a:ext cx="2048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Services métier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3502152" y="1947672"/>
            <a:ext cx="2048256" cy="5486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Paie, PDF, SaaS, audit</a:t>
            </a:r>
            <a:endParaRPr lang="en-US" sz="1350" dirty="0"/>
          </a:p>
        </p:txBody>
      </p:sp>
      <p:sp>
        <p:nvSpPr>
          <p:cNvPr id="16" name="Shape 12"/>
          <p:cNvSpPr/>
          <p:nvPr/>
        </p:nvSpPr>
        <p:spPr>
          <a:xfrm>
            <a:off x="5989320" y="1508760"/>
            <a:ext cx="237744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D7E9E6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6153912" y="1636776"/>
            <a:ext cx="2048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Portail salarié</a:t>
            </a:r>
            <a:endParaRPr lang="en-US" sz="1050" dirty="0"/>
          </a:p>
        </p:txBody>
      </p:sp>
      <p:sp>
        <p:nvSpPr>
          <p:cNvPr id="18" name="Text 14"/>
          <p:cNvSpPr/>
          <p:nvPr/>
        </p:nvSpPr>
        <p:spPr>
          <a:xfrm>
            <a:off x="6153912" y="1947672"/>
            <a:ext cx="2048256" cy="5486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Bulletins, contrats, congés</a:t>
            </a:r>
            <a:endParaRPr lang="en-US" sz="1350" dirty="0"/>
          </a:p>
        </p:txBody>
      </p:sp>
      <p:sp>
        <p:nvSpPr>
          <p:cNvPr id="19" name="Shape 15"/>
          <p:cNvSpPr/>
          <p:nvPr/>
        </p:nvSpPr>
        <p:spPr>
          <a:xfrm>
            <a:off x="8641080" y="1508760"/>
            <a:ext cx="237744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D7E9E6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8805672" y="1636776"/>
            <a:ext cx="2048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Billing</a:t>
            </a:r>
            <a:endParaRPr lang="en-US" sz="1050" dirty="0"/>
          </a:p>
        </p:txBody>
      </p:sp>
      <p:sp>
        <p:nvSpPr>
          <p:cNvPr id="21" name="Text 17"/>
          <p:cNvSpPr/>
          <p:nvPr/>
        </p:nvSpPr>
        <p:spPr>
          <a:xfrm>
            <a:off x="8805672" y="1947672"/>
            <a:ext cx="2048256" cy="5486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Plans, factures, paiements</a:t>
            </a:r>
            <a:endParaRPr lang="en-US" sz="1350" dirty="0"/>
          </a:p>
        </p:txBody>
      </p:sp>
      <p:sp>
        <p:nvSpPr>
          <p:cNvPr id="22" name="Shape 18"/>
          <p:cNvSpPr/>
          <p:nvPr/>
        </p:nvSpPr>
        <p:spPr>
          <a:xfrm>
            <a:off x="3063240" y="2029968"/>
            <a:ext cx="274320" cy="0"/>
          </a:xfrm>
          <a:prstGeom prst="line">
            <a:avLst/>
          </a:prstGeom>
          <a:noFill/>
          <a:ln w="27940">
            <a:solidFill>
              <a:srgbClr val="0F3D3E"/>
            </a:solidFill>
            <a:prstDash val="solid"/>
            <a:headEnd type="none"/>
            <a:tailEnd type="triangle"/>
          </a:ln>
        </p:spPr>
      </p:sp>
      <p:sp>
        <p:nvSpPr>
          <p:cNvPr id="23" name="Shape 19"/>
          <p:cNvSpPr/>
          <p:nvPr/>
        </p:nvSpPr>
        <p:spPr>
          <a:xfrm>
            <a:off x="5715000" y="2029968"/>
            <a:ext cx="274320" cy="0"/>
          </a:xfrm>
          <a:prstGeom prst="line">
            <a:avLst/>
          </a:prstGeom>
          <a:noFill/>
          <a:ln w="27940">
            <a:solidFill>
              <a:srgbClr val="0F3D3E"/>
            </a:solidFill>
            <a:prstDash val="solid"/>
            <a:headEnd type="none"/>
            <a:tailEnd type="triangle"/>
          </a:ln>
        </p:spPr>
      </p:sp>
      <p:sp>
        <p:nvSpPr>
          <p:cNvPr id="24" name="Shape 20"/>
          <p:cNvSpPr/>
          <p:nvPr/>
        </p:nvSpPr>
        <p:spPr>
          <a:xfrm>
            <a:off x="8366760" y="2029968"/>
            <a:ext cx="274320" cy="0"/>
          </a:xfrm>
          <a:prstGeom prst="line">
            <a:avLst/>
          </a:prstGeom>
          <a:noFill/>
          <a:ln w="27940">
            <a:solidFill>
              <a:srgbClr val="0F3D3E"/>
            </a:solidFill>
            <a:prstDash val="solid"/>
            <a:headEnd type="none"/>
            <a:tailEnd type="triangle"/>
          </a:ln>
        </p:spPr>
      </p:sp>
      <p:sp>
        <p:nvSpPr>
          <p:cNvPr id="25" name="Shape 21"/>
          <p:cNvSpPr/>
          <p:nvPr/>
        </p:nvSpPr>
        <p:spPr>
          <a:xfrm>
            <a:off x="914400" y="3657600"/>
            <a:ext cx="9692640" cy="1325880"/>
          </a:xfrm>
          <a:prstGeom prst="roundRect">
            <a:avLst>
              <a:gd name="adj" fmla="val 4138"/>
            </a:avLst>
          </a:prstGeom>
          <a:solidFill>
            <a:srgbClr val="ECFEFF">
              <a:alpha val="92000"/>
            </a:srgbClr>
          </a:solidFill>
          <a:ln w="20320">
            <a:solidFill>
              <a:srgbClr val="14B8A6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1078992" y="4155948"/>
            <a:ext cx="9363456" cy="32918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3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Capture à insérer : dashboard SmartRH Maroc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3D3E"/>
          </a:solidFill>
          <a:ln w="12700">
            <a:solidFill>
              <a:srgbClr val="0F3D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329184"/>
            <a:ext cx="2468880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OBJECTIFS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30352" y="585216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F3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MVP devait être démontrable, sécurisé et documenté</a:t>
            </a:r>
            <a:endParaRPr lang="en-US" sz="2500" dirty="0"/>
          </a:p>
        </p:txBody>
      </p:sp>
      <p:pic>
        <p:nvPicPr>
          <p:cNvPr id="5" name="Image 0" descr="C:\laragon\www\smartrh-maroc\public\images\branding\smartrh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46920" y="292608"/>
            <a:ext cx="1920240" cy="4572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2920" y="6446520"/>
            <a:ext cx="11201400" cy="0"/>
          </a:xfrm>
          <a:prstGeom prst="line">
            <a:avLst/>
          </a:prstGeom>
          <a:noFill/>
          <a:ln w="12700">
            <a:solidFill>
              <a:srgbClr val="DDEBE9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30352" y="6510528"/>
            <a:ext cx="2103120" cy="164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SmartRH Maroc</a:t>
            </a: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>
            <a:off x="11292840" y="6473952"/>
            <a:ext cx="41148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F3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713232" y="1572768"/>
            <a:ext cx="7406640" cy="34747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Gérer sociétés, salariés et rôles</a:t>
            </a:r>
            <a:endParaRPr lang="en-US" sz="1700" dirty="0"/>
          </a:p>
          <a:p>
            <a:pPr marL="152400" indent="-1524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Calculer et générer les bulletins PDF</a:t>
            </a:r>
            <a:endParaRPr lang="en-US" sz="1700" dirty="0"/>
          </a:p>
          <a:p>
            <a:pPr marL="152400" indent="-1524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Produire contrats et documents RH</a:t>
            </a:r>
            <a:endParaRPr lang="en-US" sz="1700" dirty="0"/>
          </a:p>
          <a:p>
            <a:pPr marL="152400" indent="-1524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Préparer démo, onboarding et facturation</a:t>
            </a:r>
            <a:endParaRPr lang="en-US" sz="1700" dirty="0"/>
          </a:p>
          <a:p>
            <a:pPr marL="152400" indent="-1524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Valider par tests automatisés</a:t>
            </a:r>
            <a:endParaRPr lang="en-US" sz="1700" dirty="0"/>
          </a:p>
        </p:txBody>
      </p:sp>
      <p:sp>
        <p:nvSpPr>
          <p:cNvPr id="11" name="Shape 7"/>
          <p:cNvSpPr/>
          <p:nvPr/>
        </p:nvSpPr>
        <p:spPr>
          <a:xfrm>
            <a:off x="8458200" y="1691640"/>
            <a:ext cx="2423160" cy="1783080"/>
          </a:xfrm>
          <a:prstGeom prst="roundRect">
            <a:avLst>
              <a:gd name="adj" fmla="val 3077"/>
            </a:avLst>
          </a:prstGeom>
          <a:solidFill>
            <a:srgbClr val="ECFEFF"/>
          </a:solidFill>
          <a:ln w="12700">
            <a:solidFill>
              <a:srgbClr val="D7E9E6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8622792" y="1819656"/>
            <a:ext cx="2093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Preuve projet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8622792" y="2130552"/>
            <a:ext cx="2093976" cy="12801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Modules vérifiés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inspecté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Docs consultées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3D3E"/>
          </a:solidFill>
          <a:ln w="12700">
            <a:solidFill>
              <a:srgbClr val="0F3D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329184"/>
            <a:ext cx="2468880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UTILISATEURS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30352" y="585216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F3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rôles séparent administration, paie, RH et accès salarié</a:t>
            </a:r>
            <a:endParaRPr lang="en-US" sz="2500" dirty="0"/>
          </a:p>
        </p:txBody>
      </p:sp>
      <p:pic>
        <p:nvPicPr>
          <p:cNvPr id="5" name="Image 0" descr="C:\laragon\www\smartrh-maroc\public\images\branding\smartrh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46920" y="292608"/>
            <a:ext cx="1920240" cy="4572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2920" y="6446520"/>
            <a:ext cx="11201400" cy="0"/>
          </a:xfrm>
          <a:prstGeom prst="line">
            <a:avLst/>
          </a:prstGeom>
          <a:noFill/>
          <a:ln w="12700">
            <a:solidFill>
              <a:srgbClr val="DDEBE9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30352" y="6510528"/>
            <a:ext cx="2103120" cy="164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SmartRH Maroc</a:t>
            </a: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>
            <a:off x="11292840" y="6473952"/>
            <a:ext cx="41148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F3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900" dirty="0"/>
          </a:p>
        </p:txBody>
      </p:sp>
      <p:sp>
        <p:nvSpPr>
          <p:cNvPr id="10" name="Shape 6"/>
          <p:cNvSpPr/>
          <p:nvPr/>
        </p:nvSpPr>
        <p:spPr>
          <a:xfrm>
            <a:off x="822960" y="1828800"/>
            <a:ext cx="420624" cy="420624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822960" y="1892808"/>
            <a:ext cx="4206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</a:t>
            </a:r>
            <a:endParaRPr lang="en-US" sz="850" dirty="0"/>
          </a:p>
        </p:txBody>
      </p:sp>
      <p:sp>
        <p:nvSpPr>
          <p:cNvPr id="12" name="Shape 8"/>
          <p:cNvSpPr/>
          <p:nvPr/>
        </p:nvSpPr>
        <p:spPr>
          <a:xfrm>
            <a:off x="594360" y="2487168"/>
            <a:ext cx="187452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7E9E6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758952" y="2615184"/>
            <a:ext cx="15453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 Admin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758952" y="2926080"/>
            <a:ext cx="1545336" cy="7315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Vue globale et configuration</a:t>
            </a:r>
            <a:endParaRPr lang="en-US" sz="1350" dirty="0"/>
          </a:p>
        </p:txBody>
      </p:sp>
      <p:sp>
        <p:nvSpPr>
          <p:cNvPr id="15" name="Shape 11"/>
          <p:cNvSpPr/>
          <p:nvPr/>
        </p:nvSpPr>
        <p:spPr>
          <a:xfrm>
            <a:off x="2971800" y="1828800"/>
            <a:ext cx="420624" cy="420624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2971800" y="1892808"/>
            <a:ext cx="4206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</a:t>
            </a:r>
            <a:endParaRPr lang="en-US" sz="850" dirty="0"/>
          </a:p>
        </p:txBody>
      </p:sp>
      <p:sp>
        <p:nvSpPr>
          <p:cNvPr id="17" name="Shape 13"/>
          <p:cNvSpPr/>
          <p:nvPr/>
        </p:nvSpPr>
        <p:spPr>
          <a:xfrm>
            <a:off x="2743200" y="2487168"/>
            <a:ext cx="187452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7E9E6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2907792" y="2615184"/>
            <a:ext cx="15453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Owner</a:t>
            </a:r>
            <a:endParaRPr lang="en-US" sz="1050" dirty="0"/>
          </a:p>
        </p:txBody>
      </p:sp>
      <p:sp>
        <p:nvSpPr>
          <p:cNvPr id="19" name="Text 15"/>
          <p:cNvSpPr/>
          <p:nvPr/>
        </p:nvSpPr>
        <p:spPr>
          <a:xfrm>
            <a:off x="2907792" y="2926080"/>
            <a:ext cx="1545336" cy="7315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Gestion société et abonnement</a:t>
            </a:r>
            <a:endParaRPr lang="en-US" sz="1350" dirty="0"/>
          </a:p>
        </p:txBody>
      </p:sp>
      <p:sp>
        <p:nvSpPr>
          <p:cNvPr id="20" name="Shape 16"/>
          <p:cNvSpPr/>
          <p:nvPr/>
        </p:nvSpPr>
        <p:spPr>
          <a:xfrm>
            <a:off x="5120640" y="1828800"/>
            <a:ext cx="420624" cy="420624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5120640" y="1892808"/>
            <a:ext cx="4206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</a:t>
            </a:r>
            <a:endParaRPr lang="en-US" sz="850" dirty="0"/>
          </a:p>
        </p:txBody>
      </p:sp>
      <p:sp>
        <p:nvSpPr>
          <p:cNvPr id="22" name="Shape 18"/>
          <p:cNvSpPr/>
          <p:nvPr/>
        </p:nvSpPr>
        <p:spPr>
          <a:xfrm>
            <a:off x="4892040" y="2487168"/>
            <a:ext cx="187452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7E9E6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5056632" y="2615184"/>
            <a:ext cx="15453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Payroll Manager</a:t>
            </a:r>
            <a:endParaRPr lang="en-US" sz="1050" dirty="0"/>
          </a:p>
        </p:txBody>
      </p:sp>
      <p:sp>
        <p:nvSpPr>
          <p:cNvPr id="24" name="Text 20"/>
          <p:cNvSpPr/>
          <p:nvPr/>
        </p:nvSpPr>
        <p:spPr>
          <a:xfrm>
            <a:off x="5056632" y="2926080"/>
            <a:ext cx="1545336" cy="7315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Périodes, calculs et bulletins</a:t>
            </a:r>
            <a:endParaRPr lang="en-US" sz="1350" dirty="0"/>
          </a:p>
        </p:txBody>
      </p:sp>
      <p:sp>
        <p:nvSpPr>
          <p:cNvPr id="25" name="Shape 21"/>
          <p:cNvSpPr/>
          <p:nvPr/>
        </p:nvSpPr>
        <p:spPr>
          <a:xfrm>
            <a:off x="7269480" y="1828800"/>
            <a:ext cx="420624" cy="420624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7269480" y="1892808"/>
            <a:ext cx="4206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RH</a:t>
            </a:r>
            <a:endParaRPr lang="en-US" sz="850" dirty="0"/>
          </a:p>
        </p:txBody>
      </p:sp>
      <p:sp>
        <p:nvSpPr>
          <p:cNvPr id="27" name="Shape 23"/>
          <p:cNvSpPr/>
          <p:nvPr/>
        </p:nvSpPr>
        <p:spPr>
          <a:xfrm>
            <a:off x="7040880" y="2487168"/>
            <a:ext cx="187452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7E9E6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7205472" y="2615184"/>
            <a:ext cx="15453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RH Manager</a:t>
            </a:r>
            <a:endParaRPr lang="en-US" sz="1050" dirty="0"/>
          </a:p>
        </p:txBody>
      </p:sp>
      <p:sp>
        <p:nvSpPr>
          <p:cNvPr id="29" name="Text 25"/>
          <p:cNvSpPr/>
          <p:nvPr/>
        </p:nvSpPr>
        <p:spPr>
          <a:xfrm>
            <a:off x="7205472" y="2926080"/>
            <a:ext cx="1545336" cy="7315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Salariés, contrats et documents</a:t>
            </a:r>
            <a:endParaRPr lang="en-US" sz="1350" dirty="0"/>
          </a:p>
        </p:txBody>
      </p:sp>
      <p:sp>
        <p:nvSpPr>
          <p:cNvPr id="30" name="Shape 26"/>
          <p:cNvSpPr/>
          <p:nvPr/>
        </p:nvSpPr>
        <p:spPr>
          <a:xfrm>
            <a:off x="9418320" y="1828800"/>
            <a:ext cx="420624" cy="420624"/>
          </a:xfrm>
          <a:prstGeom prst="ellipse">
            <a:avLst/>
          </a:prstGeom>
          <a:solidFill>
            <a:srgbClr val="D4A72C"/>
          </a:solidFill>
          <a:ln w="12700">
            <a:solidFill>
              <a:srgbClr val="D4A72C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9418320" y="1892808"/>
            <a:ext cx="4206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</a:t>
            </a:r>
            <a:endParaRPr lang="en-US" sz="850" dirty="0"/>
          </a:p>
        </p:txBody>
      </p:sp>
      <p:sp>
        <p:nvSpPr>
          <p:cNvPr id="32" name="Shape 28"/>
          <p:cNvSpPr/>
          <p:nvPr/>
        </p:nvSpPr>
        <p:spPr>
          <a:xfrm>
            <a:off x="9189720" y="2487168"/>
            <a:ext cx="187452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7E9E6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9354312" y="2615184"/>
            <a:ext cx="15453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Salarié</a:t>
            </a:r>
            <a:endParaRPr lang="en-US" sz="1050" dirty="0"/>
          </a:p>
        </p:txBody>
      </p:sp>
      <p:sp>
        <p:nvSpPr>
          <p:cNvPr id="34" name="Text 30"/>
          <p:cNvSpPr/>
          <p:nvPr/>
        </p:nvSpPr>
        <p:spPr>
          <a:xfrm>
            <a:off x="9354312" y="2926080"/>
            <a:ext cx="1545336" cy="7315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Portail personnel uniquement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3D3E"/>
          </a:solidFill>
          <a:ln w="12700">
            <a:solidFill>
              <a:srgbClr val="0F3D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329184"/>
            <a:ext cx="2468880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30352" y="585216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F3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fonctionnalités couvrent le cycle RH et SaaS</a:t>
            </a:r>
            <a:endParaRPr lang="en-US" sz="2500" dirty="0"/>
          </a:p>
        </p:txBody>
      </p:sp>
      <p:pic>
        <p:nvPicPr>
          <p:cNvPr id="5" name="Image 0" descr="C:\laragon\www\smartrh-maroc\public\images\branding\smartrh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46920" y="292608"/>
            <a:ext cx="1920240" cy="4572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2920" y="6446520"/>
            <a:ext cx="11201400" cy="0"/>
          </a:xfrm>
          <a:prstGeom prst="line">
            <a:avLst/>
          </a:prstGeom>
          <a:noFill/>
          <a:ln w="12700">
            <a:solidFill>
              <a:srgbClr val="DDEBE9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30352" y="6510528"/>
            <a:ext cx="2103120" cy="164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SmartRH Maroc</a:t>
            </a: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>
            <a:off x="11292840" y="6473952"/>
            <a:ext cx="41148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F3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713232" y="1572768"/>
            <a:ext cx="7406640" cy="34747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Salariés, départements, postes, congés, absences</a:t>
            </a:r>
            <a:endParaRPr lang="en-US" sz="1700" dirty="0"/>
          </a:p>
          <a:p>
            <a:pPr marL="152400" indent="-1524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Périodes de paie, bulletins et éléments configurables</a:t>
            </a:r>
            <a:endParaRPr lang="en-US" sz="1700" dirty="0"/>
          </a:p>
          <a:p>
            <a:pPr marL="152400" indent="-1524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Documents RH : CDI, CDD, Stage, Avenant, attestations</a:t>
            </a:r>
            <a:endParaRPr lang="en-US" sz="1700" dirty="0"/>
          </a:p>
          <a:p>
            <a:pPr marL="152400" indent="-1524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Abonnements, factures, paiements, support</a:t>
            </a:r>
            <a:endParaRPr lang="en-US" sz="1700" dirty="0"/>
          </a:p>
          <a:p>
            <a:pPr marL="152400" indent="-1524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Imports/exports Excel et CSV</a:t>
            </a:r>
            <a:endParaRPr lang="en-US" sz="1700" dirty="0"/>
          </a:p>
        </p:txBody>
      </p:sp>
      <p:sp>
        <p:nvSpPr>
          <p:cNvPr id="11" name="Shape 7"/>
          <p:cNvSpPr/>
          <p:nvPr/>
        </p:nvSpPr>
        <p:spPr>
          <a:xfrm>
            <a:off x="8458200" y="1691640"/>
            <a:ext cx="2423160" cy="1783080"/>
          </a:xfrm>
          <a:prstGeom prst="roundRect">
            <a:avLst>
              <a:gd name="adj" fmla="val 3077"/>
            </a:avLst>
          </a:prstGeom>
          <a:solidFill>
            <a:srgbClr val="ECFEFF"/>
          </a:solidFill>
          <a:ln w="12700">
            <a:solidFill>
              <a:srgbClr val="D7E9E6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8622792" y="1819656"/>
            <a:ext cx="2093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Preuve projet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8622792" y="2130552"/>
            <a:ext cx="2093976" cy="12801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Modules vérifiés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inspecté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Docs consultées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3D3E"/>
          </a:solidFill>
          <a:ln w="12700">
            <a:solidFill>
              <a:srgbClr val="0F3D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329184"/>
            <a:ext cx="2468880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30352" y="585216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F3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Laravel structure les services métier autour de Filament et du portail</a:t>
            </a:r>
            <a:endParaRPr lang="en-US" sz="2500" dirty="0"/>
          </a:p>
        </p:txBody>
      </p:sp>
      <p:pic>
        <p:nvPicPr>
          <p:cNvPr id="5" name="Image 0" descr="C:\laragon\www\smartrh-maroc\public\images\branding\smartrh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46920" y="292608"/>
            <a:ext cx="1920240" cy="4572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2920" y="6446520"/>
            <a:ext cx="11201400" cy="0"/>
          </a:xfrm>
          <a:prstGeom prst="line">
            <a:avLst/>
          </a:prstGeom>
          <a:noFill/>
          <a:ln w="12700">
            <a:solidFill>
              <a:srgbClr val="DDEBE9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30352" y="6510528"/>
            <a:ext cx="2103120" cy="164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SmartRH Maroc</a:t>
            </a: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>
            <a:off x="11292840" y="6473952"/>
            <a:ext cx="41148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F3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  <p:sp>
        <p:nvSpPr>
          <p:cNvPr id="10" name="Shape 6"/>
          <p:cNvSpPr/>
          <p:nvPr/>
        </p:nvSpPr>
        <p:spPr>
          <a:xfrm>
            <a:off x="731520" y="1600200"/>
            <a:ext cx="205740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E9E6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896112" y="1728216"/>
            <a:ext cx="17282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Routes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896112" y="2039112"/>
            <a:ext cx="1728216" cy="4114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Public, admin, API, portail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3383280" y="1600200"/>
            <a:ext cx="205740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E9E6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3547872" y="1728216"/>
            <a:ext cx="17282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Laravel 12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3547872" y="2039112"/>
            <a:ext cx="1728216" cy="4114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Controllers + services</a:t>
            </a:r>
            <a:endParaRPr lang="en-US" sz="1350" dirty="0"/>
          </a:p>
        </p:txBody>
      </p:sp>
      <p:sp>
        <p:nvSpPr>
          <p:cNvPr id="16" name="Shape 12"/>
          <p:cNvSpPr/>
          <p:nvPr/>
        </p:nvSpPr>
        <p:spPr>
          <a:xfrm>
            <a:off x="6035040" y="1600200"/>
            <a:ext cx="205740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E9E6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6199632" y="1728216"/>
            <a:ext cx="17282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</a:t>
            </a:r>
            <a:endParaRPr lang="en-US" sz="1050" dirty="0"/>
          </a:p>
        </p:txBody>
      </p:sp>
      <p:sp>
        <p:nvSpPr>
          <p:cNvPr id="18" name="Text 14"/>
          <p:cNvSpPr/>
          <p:nvPr/>
        </p:nvSpPr>
        <p:spPr>
          <a:xfrm>
            <a:off x="6199632" y="2039112"/>
            <a:ext cx="1728216" cy="4114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SQLite local / MySQL prod.</a:t>
            </a:r>
            <a:endParaRPr lang="en-US" sz="1350" dirty="0"/>
          </a:p>
        </p:txBody>
      </p:sp>
      <p:sp>
        <p:nvSpPr>
          <p:cNvPr id="19" name="Shape 15"/>
          <p:cNvSpPr/>
          <p:nvPr/>
        </p:nvSpPr>
        <p:spPr>
          <a:xfrm>
            <a:off x="8686800" y="1600200"/>
            <a:ext cx="205740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E9E6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8851392" y="1728216"/>
            <a:ext cx="17282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Stockage</a:t>
            </a:r>
            <a:endParaRPr lang="en-US" sz="1050" dirty="0"/>
          </a:p>
        </p:txBody>
      </p:sp>
      <p:sp>
        <p:nvSpPr>
          <p:cNvPr id="21" name="Text 17"/>
          <p:cNvSpPr/>
          <p:nvPr/>
        </p:nvSpPr>
        <p:spPr>
          <a:xfrm>
            <a:off x="8851392" y="2039112"/>
            <a:ext cx="1728216" cy="4114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PDF privés + exports</a:t>
            </a:r>
            <a:endParaRPr lang="en-US" sz="1350" dirty="0"/>
          </a:p>
        </p:txBody>
      </p:sp>
      <p:sp>
        <p:nvSpPr>
          <p:cNvPr id="22" name="Shape 18"/>
          <p:cNvSpPr/>
          <p:nvPr/>
        </p:nvSpPr>
        <p:spPr>
          <a:xfrm>
            <a:off x="2788920" y="2057400"/>
            <a:ext cx="594360" cy="0"/>
          </a:xfrm>
          <a:prstGeom prst="line">
            <a:avLst/>
          </a:prstGeom>
          <a:noFill/>
          <a:ln w="27940">
            <a:solidFill>
              <a:srgbClr val="0F3D3E"/>
            </a:solidFill>
            <a:prstDash val="solid"/>
            <a:headEnd type="none"/>
            <a:tailEnd type="triangle"/>
          </a:ln>
        </p:spPr>
      </p:sp>
      <p:sp>
        <p:nvSpPr>
          <p:cNvPr id="23" name="Shape 19"/>
          <p:cNvSpPr/>
          <p:nvPr/>
        </p:nvSpPr>
        <p:spPr>
          <a:xfrm>
            <a:off x="5440680" y="2057400"/>
            <a:ext cx="594360" cy="0"/>
          </a:xfrm>
          <a:prstGeom prst="line">
            <a:avLst/>
          </a:prstGeom>
          <a:noFill/>
          <a:ln w="27940">
            <a:solidFill>
              <a:srgbClr val="0F3D3E"/>
            </a:solidFill>
            <a:prstDash val="solid"/>
            <a:headEnd type="none"/>
            <a:tailEnd type="triangle"/>
          </a:ln>
        </p:spPr>
      </p:sp>
      <p:sp>
        <p:nvSpPr>
          <p:cNvPr id="24" name="Shape 20"/>
          <p:cNvSpPr/>
          <p:nvPr/>
        </p:nvSpPr>
        <p:spPr>
          <a:xfrm>
            <a:off x="8092440" y="2057400"/>
            <a:ext cx="594360" cy="0"/>
          </a:xfrm>
          <a:prstGeom prst="line">
            <a:avLst/>
          </a:prstGeom>
          <a:noFill/>
          <a:ln w="27940">
            <a:solidFill>
              <a:srgbClr val="0F3D3E"/>
            </a:solidFill>
            <a:prstDash val="solid"/>
            <a:headEnd type="none"/>
            <a:tailEnd type="triangle"/>
          </a:ln>
        </p:spPr>
      </p:sp>
      <p:sp>
        <p:nvSpPr>
          <p:cNvPr id="25" name="Shape 21"/>
          <p:cNvSpPr/>
          <p:nvPr/>
        </p:nvSpPr>
        <p:spPr>
          <a:xfrm>
            <a:off x="1097280" y="3977640"/>
            <a:ext cx="4297680" cy="1005840"/>
          </a:xfrm>
          <a:prstGeom prst="roundRect">
            <a:avLst>
              <a:gd name="adj" fmla="val 5455"/>
            </a:avLst>
          </a:prstGeom>
          <a:solidFill>
            <a:srgbClr val="ECFEFF">
              <a:alpha val="92000"/>
            </a:srgbClr>
          </a:solidFill>
          <a:ln w="20320">
            <a:solidFill>
              <a:srgbClr val="14B8A6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1261872" y="4315968"/>
            <a:ext cx="3968496" cy="32918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3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Capture : employees page</a:t>
            </a:r>
            <a:endParaRPr lang="en-US" sz="1300" dirty="0"/>
          </a:p>
        </p:txBody>
      </p:sp>
      <p:sp>
        <p:nvSpPr>
          <p:cNvPr id="27" name="Shape 23"/>
          <p:cNvSpPr/>
          <p:nvPr/>
        </p:nvSpPr>
        <p:spPr>
          <a:xfrm>
            <a:off x="5943600" y="3977640"/>
            <a:ext cx="4297680" cy="1005840"/>
          </a:xfrm>
          <a:prstGeom prst="roundRect">
            <a:avLst>
              <a:gd name="adj" fmla="val 5455"/>
            </a:avLst>
          </a:prstGeom>
          <a:solidFill>
            <a:srgbClr val="ECFEFF">
              <a:alpha val="92000"/>
            </a:srgbClr>
          </a:solidFill>
          <a:ln w="20320">
            <a:solidFill>
              <a:srgbClr val="14B8A6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6108192" y="4315968"/>
            <a:ext cx="3968496" cy="32918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3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Capture : payroll preview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3D3E"/>
          </a:solidFill>
          <a:ln w="12700">
            <a:solidFill>
              <a:srgbClr val="0F3D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329184"/>
            <a:ext cx="2468880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DONNÉES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30352" y="585216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F3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base partagée est isolée par company_id et policies</a:t>
            </a:r>
            <a:endParaRPr lang="en-US" sz="2500" dirty="0"/>
          </a:p>
        </p:txBody>
      </p:sp>
      <p:pic>
        <p:nvPicPr>
          <p:cNvPr id="5" name="Image 0" descr="C:\laragon\www\smartrh-maroc\public\images\branding\smartrh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46920" y="292608"/>
            <a:ext cx="1920240" cy="4572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2920" y="6446520"/>
            <a:ext cx="11201400" cy="0"/>
          </a:xfrm>
          <a:prstGeom prst="line">
            <a:avLst/>
          </a:prstGeom>
          <a:noFill/>
          <a:ln w="12700">
            <a:solidFill>
              <a:srgbClr val="DDEBE9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30352" y="6510528"/>
            <a:ext cx="2103120" cy="164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SmartRH Maroc</a:t>
            </a: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>
            <a:off x="11292840" y="6473952"/>
            <a:ext cx="41148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F3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713232" y="1572768"/>
            <a:ext cx="7406640" cy="34747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Modèles liés à Company</a:t>
            </a:r>
            <a:endParaRPr lang="en-US" sz="1700" dirty="0"/>
          </a:p>
          <a:p>
            <a:pPr marL="152400" indent="-1524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Trait BelongsToCompany</a:t>
            </a:r>
            <a:endParaRPr lang="en-US" sz="1700" dirty="0"/>
          </a:p>
          <a:p>
            <a:pPr marL="152400" indent="-1524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Scopes Filament par société</a:t>
            </a:r>
            <a:endParaRPr lang="en-US" sz="1700" dirty="0"/>
          </a:p>
          <a:p>
            <a:pPr marL="152400" indent="-1524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Policies de téléchargement et consultation</a:t>
            </a:r>
            <a:endParaRPr lang="en-US" sz="1700" dirty="0"/>
          </a:p>
          <a:p>
            <a:pPr marL="152400" indent="-1524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 Admin en accès transversal</a:t>
            </a:r>
            <a:endParaRPr lang="en-US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3D3E"/>
          </a:solidFill>
          <a:ln w="12700">
            <a:solidFill>
              <a:srgbClr val="0F3D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329184"/>
            <a:ext cx="2468880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 PAIE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30352" y="585216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F3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calcul part d’une période et produit un bulletin PDF privé</a:t>
            </a:r>
            <a:endParaRPr lang="en-US" sz="2500" dirty="0"/>
          </a:p>
        </p:txBody>
      </p:sp>
      <p:pic>
        <p:nvPicPr>
          <p:cNvPr id="5" name="Image 0" descr="C:\laragon\www\smartrh-maroc\public\images\branding\smartrh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46920" y="292608"/>
            <a:ext cx="1920240" cy="4572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2920" y="6446520"/>
            <a:ext cx="11201400" cy="0"/>
          </a:xfrm>
          <a:prstGeom prst="line">
            <a:avLst/>
          </a:prstGeom>
          <a:noFill/>
          <a:ln w="12700">
            <a:solidFill>
              <a:srgbClr val="DDEBE9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30352" y="6510528"/>
            <a:ext cx="2103120" cy="164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SmartRH Maroc</a:t>
            </a: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>
            <a:off x="11292840" y="6473952"/>
            <a:ext cx="41148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F3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  <p:sp>
        <p:nvSpPr>
          <p:cNvPr id="10" name="Shape 6"/>
          <p:cNvSpPr/>
          <p:nvPr/>
        </p:nvSpPr>
        <p:spPr>
          <a:xfrm>
            <a:off x="502920" y="1874520"/>
            <a:ext cx="1325880" cy="822960"/>
          </a:xfrm>
          <a:prstGeom prst="roundRect">
            <a:avLst>
              <a:gd name="adj" fmla="val 6667"/>
            </a:avLst>
          </a:prstGeom>
          <a:solidFill>
            <a:srgbClr val="ECFEFF"/>
          </a:solidFill>
          <a:ln w="12700">
            <a:solidFill>
              <a:srgbClr val="D7E9E6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667512" y="2002536"/>
            <a:ext cx="9966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667512" y="2313432"/>
            <a:ext cx="996696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Période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1828800" y="2286000"/>
            <a:ext cx="393192" cy="0"/>
          </a:xfrm>
          <a:prstGeom prst="line">
            <a:avLst/>
          </a:prstGeom>
          <a:noFill/>
          <a:ln w="27940">
            <a:solidFill>
              <a:srgbClr val="0F3D3E"/>
            </a:solidFill>
            <a:prstDash val="solid"/>
            <a:headEnd type="none"/>
            <a:tailEnd type="triangle"/>
          </a:ln>
        </p:spPr>
      </p:sp>
      <p:sp>
        <p:nvSpPr>
          <p:cNvPr id="14" name="Shape 10"/>
          <p:cNvSpPr/>
          <p:nvPr/>
        </p:nvSpPr>
        <p:spPr>
          <a:xfrm>
            <a:off x="2377440" y="1874520"/>
            <a:ext cx="132588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7E9E6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2542032" y="2002536"/>
            <a:ext cx="9966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2542032" y="2313432"/>
            <a:ext cx="996696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Éléments</a:t>
            </a:r>
            <a:endParaRPr lang="en-US" sz="1350" dirty="0"/>
          </a:p>
        </p:txBody>
      </p:sp>
      <p:sp>
        <p:nvSpPr>
          <p:cNvPr id="17" name="Shape 13"/>
          <p:cNvSpPr/>
          <p:nvPr/>
        </p:nvSpPr>
        <p:spPr>
          <a:xfrm>
            <a:off x="3703320" y="2286000"/>
            <a:ext cx="393192" cy="0"/>
          </a:xfrm>
          <a:prstGeom prst="line">
            <a:avLst/>
          </a:prstGeom>
          <a:noFill/>
          <a:ln w="27940">
            <a:solidFill>
              <a:srgbClr val="0F3D3E"/>
            </a:solidFill>
            <a:prstDash val="solid"/>
            <a:headEnd type="none"/>
            <a:tailEnd type="triangle"/>
          </a:ln>
        </p:spPr>
      </p:sp>
      <p:sp>
        <p:nvSpPr>
          <p:cNvPr id="18" name="Shape 14"/>
          <p:cNvSpPr/>
          <p:nvPr/>
        </p:nvSpPr>
        <p:spPr>
          <a:xfrm>
            <a:off x="4251960" y="1874520"/>
            <a:ext cx="1325880" cy="822960"/>
          </a:xfrm>
          <a:prstGeom prst="roundRect">
            <a:avLst>
              <a:gd name="adj" fmla="val 6667"/>
            </a:avLst>
          </a:prstGeom>
          <a:solidFill>
            <a:srgbClr val="ECFEFF"/>
          </a:solidFill>
          <a:ln w="12700">
            <a:solidFill>
              <a:srgbClr val="D7E9E6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4416552" y="2002536"/>
            <a:ext cx="9966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50" dirty="0"/>
          </a:p>
        </p:txBody>
      </p:sp>
      <p:sp>
        <p:nvSpPr>
          <p:cNvPr id="20" name="Text 16"/>
          <p:cNvSpPr/>
          <p:nvPr/>
        </p:nvSpPr>
        <p:spPr>
          <a:xfrm>
            <a:off x="4416552" y="2313432"/>
            <a:ext cx="996696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CNSS/AMO</a:t>
            </a:r>
            <a:endParaRPr lang="en-US" sz="1350" dirty="0"/>
          </a:p>
        </p:txBody>
      </p:sp>
      <p:sp>
        <p:nvSpPr>
          <p:cNvPr id="21" name="Shape 17"/>
          <p:cNvSpPr/>
          <p:nvPr/>
        </p:nvSpPr>
        <p:spPr>
          <a:xfrm>
            <a:off x="5577840" y="2286000"/>
            <a:ext cx="393192" cy="0"/>
          </a:xfrm>
          <a:prstGeom prst="line">
            <a:avLst/>
          </a:prstGeom>
          <a:noFill/>
          <a:ln w="27940">
            <a:solidFill>
              <a:srgbClr val="0F3D3E"/>
            </a:solidFill>
            <a:prstDash val="solid"/>
            <a:headEnd type="none"/>
            <a:tailEnd type="triangle"/>
          </a:ln>
        </p:spPr>
      </p:sp>
      <p:sp>
        <p:nvSpPr>
          <p:cNvPr id="22" name="Shape 18"/>
          <p:cNvSpPr/>
          <p:nvPr/>
        </p:nvSpPr>
        <p:spPr>
          <a:xfrm>
            <a:off x="6126480" y="1874520"/>
            <a:ext cx="132588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7E9E6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6291072" y="2002536"/>
            <a:ext cx="9966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50" dirty="0"/>
          </a:p>
        </p:txBody>
      </p:sp>
      <p:sp>
        <p:nvSpPr>
          <p:cNvPr id="24" name="Text 20"/>
          <p:cNvSpPr/>
          <p:nvPr/>
        </p:nvSpPr>
        <p:spPr>
          <a:xfrm>
            <a:off x="6291072" y="2313432"/>
            <a:ext cx="996696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IR</a:t>
            </a:r>
            <a:endParaRPr lang="en-US" sz="1350" dirty="0"/>
          </a:p>
        </p:txBody>
      </p:sp>
      <p:sp>
        <p:nvSpPr>
          <p:cNvPr id="25" name="Shape 21"/>
          <p:cNvSpPr/>
          <p:nvPr/>
        </p:nvSpPr>
        <p:spPr>
          <a:xfrm>
            <a:off x="7452360" y="2286000"/>
            <a:ext cx="393192" cy="0"/>
          </a:xfrm>
          <a:prstGeom prst="line">
            <a:avLst/>
          </a:prstGeom>
          <a:noFill/>
          <a:ln w="27940">
            <a:solidFill>
              <a:srgbClr val="0F3D3E"/>
            </a:solidFill>
            <a:prstDash val="solid"/>
            <a:headEnd type="none"/>
            <a:tailEnd type="triangle"/>
          </a:ln>
        </p:spPr>
      </p:sp>
      <p:sp>
        <p:nvSpPr>
          <p:cNvPr id="26" name="Shape 22"/>
          <p:cNvSpPr/>
          <p:nvPr/>
        </p:nvSpPr>
        <p:spPr>
          <a:xfrm>
            <a:off x="8001000" y="1874520"/>
            <a:ext cx="1325880" cy="822960"/>
          </a:xfrm>
          <a:prstGeom prst="roundRect">
            <a:avLst>
              <a:gd name="adj" fmla="val 6667"/>
            </a:avLst>
          </a:prstGeom>
          <a:solidFill>
            <a:srgbClr val="ECFEFF"/>
          </a:solidFill>
          <a:ln w="12700">
            <a:solidFill>
              <a:srgbClr val="D7E9E6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8165592" y="2002536"/>
            <a:ext cx="9966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50" dirty="0"/>
          </a:p>
        </p:txBody>
      </p:sp>
      <p:sp>
        <p:nvSpPr>
          <p:cNvPr id="28" name="Text 24"/>
          <p:cNvSpPr/>
          <p:nvPr/>
        </p:nvSpPr>
        <p:spPr>
          <a:xfrm>
            <a:off x="8165592" y="2313432"/>
            <a:ext cx="996696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</a:t>
            </a:r>
            <a:endParaRPr lang="en-US" sz="1350" dirty="0"/>
          </a:p>
        </p:txBody>
      </p:sp>
      <p:sp>
        <p:nvSpPr>
          <p:cNvPr id="29" name="Shape 25"/>
          <p:cNvSpPr/>
          <p:nvPr/>
        </p:nvSpPr>
        <p:spPr>
          <a:xfrm>
            <a:off x="9326880" y="2286000"/>
            <a:ext cx="393192" cy="0"/>
          </a:xfrm>
          <a:prstGeom prst="line">
            <a:avLst/>
          </a:prstGeom>
          <a:noFill/>
          <a:ln w="27940">
            <a:solidFill>
              <a:srgbClr val="0F3D3E"/>
            </a:solidFill>
            <a:prstDash val="solid"/>
            <a:headEnd type="none"/>
            <a:tailEnd type="triangle"/>
          </a:ln>
        </p:spPr>
      </p:sp>
      <p:sp>
        <p:nvSpPr>
          <p:cNvPr id="30" name="Shape 26"/>
          <p:cNvSpPr/>
          <p:nvPr/>
        </p:nvSpPr>
        <p:spPr>
          <a:xfrm>
            <a:off x="9875520" y="1874520"/>
            <a:ext cx="132588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7E9E6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10040112" y="2002536"/>
            <a:ext cx="9966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50" dirty="0"/>
          </a:p>
        </p:txBody>
      </p:sp>
      <p:sp>
        <p:nvSpPr>
          <p:cNvPr id="32" name="Text 28"/>
          <p:cNvSpPr/>
          <p:nvPr/>
        </p:nvSpPr>
        <p:spPr>
          <a:xfrm>
            <a:off x="10040112" y="2313432"/>
            <a:ext cx="996696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PDF</a:t>
            </a:r>
            <a:endParaRPr lang="en-US" sz="1350" dirty="0"/>
          </a:p>
        </p:txBody>
      </p:sp>
      <p:sp>
        <p:nvSpPr>
          <p:cNvPr id="33" name="Shape 29"/>
          <p:cNvSpPr/>
          <p:nvPr/>
        </p:nvSpPr>
        <p:spPr>
          <a:xfrm>
            <a:off x="1828800" y="3840480"/>
            <a:ext cx="3657600" cy="1051560"/>
          </a:xfrm>
          <a:prstGeom prst="roundRect">
            <a:avLst>
              <a:gd name="adj" fmla="val 5217"/>
            </a:avLst>
          </a:prstGeom>
          <a:solidFill>
            <a:srgbClr val="ECFEFF">
              <a:alpha val="92000"/>
            </a:srgbClr>
          </a:solidFill>
          <a:ln w="20320">
            <a:solidFill>
              <a:srgbClr val="14B8A6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1993392" y="4201668"/>
            <a:ext cx="3328416" cy="32918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3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Capture : payslip PDF</a:t>
            </a:r>
            <a:endParaRPr lang="en-US" sz="1300" dirty="0"/>
          </a:p>
        </p:txBody>
      </p:sp>
      <p:sp>
        <p:nvSpPr>
          <p:cNvPr id="35" name="Shape 31"/>
          <p:cNvSpPr/>
          <p:nvPr/>
        </p:nvSpPr>
        <p:spPr>
          <a:xfrm>
            <a:off x="6400800" y="3840480"/>
            <a:ext cx="3657600" cy="1051560"/>
          </a:xfrm>
          <a:prstGeom prst="roundRect">
            <a:avLst>
              <a:gd name="adj" fmla="val 5217"/>
            </a:avLst>
          </a:prstGeom>
          <a:solidFill>
            <a:srgbClr val="ECFEFF">
              <a:alpha val="92000"/>
            </a:srgbClr>
          </a:solidFill>
          <a:ln w="20320">
            <a:solidFill>
              <a:srgbClr val="14B8A6"/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6565392" y="4201668"/>
            <a:ext cx="3328416" cy="32918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3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Capture : HR document generation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3D3E"/>
          </a:solidFill>
          <a:ln w="12700">
            <a:solidFill>
              <a:srgbClr val="0F3D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329184"/>
            <a:ext cx="2468880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30352" y="585216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F3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net à payer sépare contributions, fiscalité et indemnités exonérées</a:t>
            </a:r>
            <a:endParaRPr lang="en-US" sz="2500" dirty="0"/>
          </a:p>
        </p:txBody>
      </p:sp>
      <p:pic>
        <p:nvPicPr>
          <p:cNvPr id="5" name="Image 0" descr="C:\laragon\www\smartrh-maroc\public\images\branding\smartrh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46920" y="292608"/>
            <a:ext cx="1920240" cy="4572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2920" y="6446520"/>
            <a:ext cx="11201400" cy="0"/>
          </a:xfrm>
          <a:prstGeom prst="line">
            <a:avLst/>
          </a:prstGeom>
          <a:noFill/>
          <a:ln w="12700">
            <a:solidFill>
              <a:srgbClr val="DDEBE9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30352" y="6510528"/>
            <a:ext cx="2103120" cy="164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SmartRH Maroc</a:t>
            </a: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>
            <a:off x="11292840" y="6473952"/>
            <a:ext cx="41148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F3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713232" y="1572768"/>
            <a:ext cx="7406640" cy="34747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CNSS : base plafonnée × taux salarié</a:t>
            </a:r>
            <a:endParaRPr lang="en-US" sz="1700" dirty="0"/>
          </a:p>
          <a:p>
            <a:pPr marL="152400" indent="-1524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AMO : base soumise × taux salarié</a:t>
            </a:r>
            <a:endParaRPr lang="en-US" sz="1700" dirty="0"/>
          </a:p>
          <a:p>
            <a:pPr marL="152400" indent="-1524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Frais professionnels : base fiscale plafonnée</a:t>
            </a:r>
            <a:endParaRPr lang="en-US" sz="1700" dirty="0"/>
          </a:p>
          <a:p>
            <a:pPr marL="152400" indent="-1524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IR : barème actif et déduction</a:t>
            </a:r>
            <a:endParaRPr lang="en-US" sz="1700" dirty="0"/>
          </a:p>
          <a:p>
            <a:pPr marL="152400" indent="-1524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 : après contributions, IR, retenues et exonérations</a:t>
            </a:r>
            <a:endParaRPr lang="en-US" sz="1700" dirty="0"/>
          </a:p>
        </p:txBody>
      </p:sp>
      <p:sp>
        <p:nvSpPr>
          <p:cNvPr id="11" name="Shape 7"/>
          <p:cNvSpPr/>
          <p:nvPr/>
        </p:nvSpPr>
        <p:spPr>
          <a:xfrm>
            <a:off x="8458200" y="1691640"/>
            <a:ext cx="2423160" cy="1783080"/>
          </a:xfrm>
          <a:prstGeom prst="roundRect">
            <a:avLst>
              <a:gd name="adj" fmla="val 3077"/>
            </a:avLst>
          </a:prstGeom>
          <a:solidFill>
            <a:srgbClr val="ECFEFF"/>
          </a:solidFill>
          <a:ln w="12700">
            <a:solidFill>
              <a:srgbClr val="D7E9E6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8622792" y="1819656"/>
            <a:ext cx="2093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Preuve projet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8622792" y="2130552"/>
            <a:ext cx="2093976" cy="12801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Modules vérifiés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inspecté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Docs consultées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3D3E"/>
          </a:solidFill>
          <a:ln w="12700">
            <a:solidFill>
              <a:srgbClr val="0F3D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329184"/>
            <a:ext cx="2468880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30352" y="585216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F3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PDF RH sont générés depuis des modèles Blade spécialisés</a:t>
            </a:r>
            <a:endParaRPr lang="en-US" sz="2500" dirty="0"/>
          </a:p>
        </p:txBody>
      </p:sp>
      <p:pic>
        <p:nvPicPr>
          <p:cNvPr id="5" name="Image 0" descr="C:\laragon\www\smartrh-maroc\public\images\branding\smartrh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46920" y="292608"/>
            <a:ext cx="1920240" cy="4572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2920" y="6446520"/>
            <a:ext cx="11201400" cy="0"/>
          </a:xfrm>
          <a:prstGeom prst="line">
            <a:avLst/>
          </a:prstGeom>
          <a:noFill/>
          <a:ln w="12700">
            <a:solidFill>
              <a:srgbClr val="DDEBE9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30352" y="6510528"/>
            <a:ext cx="2103120" cy="164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SmartRH Maroc</a:t>
            </a: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>
            <a:off x="11292840" y="6473952"/>
            <a:ext cx="41148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F3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713232" y="1572768"/>
            <a:ext cx="7406640" cy="34747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Contrats : CDI, CDD, Stage, Avenant</a:t>
            </a:r>
            <a:endParaRPr lang="en-US" sz="1700" dirty="0"/>
          </a:p>
          <a:p>
            <a:pPr marL="152400" indent="-1524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Attestation de travail</a:t>
            </a:r>
            <a:endParaRPr lang="en-US" sz="1700" dirty="0"/>
          </a:p>
          <a:p>
            <a:pPr marL="152400" indent="-1524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Certificat de travail</a:t>
            </a:r>
            <a:endParaRPr lang="en-US" sz="1700" dirty="0"/>
          </a:p>
          <a:p>
            <a:pPr marL="152400" indent="-1524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Attestation de salaire</a:t>
            </a:r>
            <a:endParaRPr lang="en-US" sz="1700" dirty="0"/>
          </a:p>
          <a:p>
            <a:pPr marL="152400" indent="-1524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Solde de tout compte</a:t>
            </a:r>
            <a:endParaRPr lang="en-US" sz="1700" dirty="0"/>
          </a:p>
        </p:txBody>
      </p:sp>
      <p:sp>
        <p:nvSpPr>
          <p:cNvPr id="11" name="Shape 7"/>
          <p:cNvSpPr/>
          <p:nvPr/>
        </p:nvSpPr>
        <p:spPr>
          <a:xfrm>
            <a:off x="8458200" y="1691640"/>
            <a:ext cx="2423160" cy="1783080"/>
          </a:xfrm>
          <a:prstGeom prst="roundRect">
            <a:avLst>
              <a:gd name="adj" fmla="val 3077"/>
            </a:avLst>
          </a:prstGeom>
          <a:solidFill>
            <a:srgbClr val="ECFEFF"/>
          </a:solidFill>
          <a:ln w="12700">
            <a:solidFill>
              <a:srgbClr val="D7E9E6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8622792" y="1819656"/>
            <a:ext cx="2093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Preuve projet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8622792" y="2130552"/>
            <a:ext cx="2093976" cy="12801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Modules vérifiés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inspecté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Docs consultées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3D3E"/>
          </a:solidFill>
          <a:ln w="12700">
            <a:solidFill>
              <a:srgbClr val="0F3D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329184"/>
            <a:ext cx="2468880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PORTAIL SALARIÉ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30352" y="585216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F3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salarié consulte ses documents et crée ses demandes</a:t>
            </a:r>
            <a:endParaRPr lang="en-US" sz="2500" dirty="0"/>
          </a:p>
        </p:txBody>
      </p:sp>
      <p:pic>
        <p:nvPicPr>
          <p:cNvPr id="5" name="Image 0" descr="C:\laragon\www\smartrh-maroc\public\images\branding\smartrh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46920" y="292608"/>
            <a:ext cx="1920240" cy="4572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2920" y="6446520"/>
            <a:ext cx="11201400" cy="0"/>
          </a:xfrm>
          <a:prstGeom prst="line">
            <a:avLst/>
          </a:prstGeom>
          <a:noFill/>
          <a:ln w="12700">
            <a:solidFill>
              <a:srgbClr val="DDEBE9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30352" y="6510528"/>
            <a:ext cx="2103120" cy="164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SmartRH Maroc</a:t>
            </a: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>
            <a:off x="11292840" y="6473952"/>
            <a:ext cx="41148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F3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10" name="Shape 6"/>
          <p:cNvSpPr/>
          <p:nvPr/>
        </p:nvSpPr>
        <p:spPr>
          <a:xfrm>
            <a:off x="777240" y="1600200"/>
            <a:ext cx="3840480" cy="1325880"/>
          </a:xfrm>
          <a:prstGeom prst="roundRect">
            <a:avLst>
              <a:gd name="adj" fmla="val 4138"/>
            </a:avLst>
          </a:prstGeom>
          <a:solidFill>
            <a:srgbClr val="ECFEFF">
              <a:alpha val="92000"/>
            </a:srgbClr>
          </a:solidFill>
          <a:ln w="20320">
            <a:solidFill>
              <a:srgbClr val="14B8A6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941832" y="2098548"/>
            <a:ext cx="3511296" cy="32918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3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Capture : employee portal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4983480" y="1600200"/>
            <a:ext cx="2743200" cy="1325880"/>
          </a:xfrm>
          <a:prstGeom prst="roundRect">
            <a:avLst>
              <a:gd name="adj" fmla="val 4138"/>
            </a:avLst>
          </a:prstGeom>
          <a:solidFill>
            <a:srgbClr val="ECFEFF">
              <a:alpha val="92000"/>
            </a:srgbClr>
          </a:solidFill>
          <a:ln w="20320">
            <a:solidFill>
              <a:srgbClr val="14B8A6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5148072" y="2098548"/>
            <a:ext cx="2414016" cy="32918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3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Capture : support tickets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8092440" y="1600200"/>
            <a:ext cx="2743200" cy="1325880"/>
          </a:xfrm>
          <a:prstGeom prst="roundRect">
            <a:avLst>
              <a:gd name="adj" fmla="val 4138"/>
            </a:avLst>
          </a:prstGeom>
          <a:solidFill>
            <a:srgbClr val="ECFEFF">
              <a:alpha val="92000"/>
            </a:srgbClr>
          </a:solidFill>
          <a:ln w="20320">
            <a:solidFill>
              <a:srgbClr val="14B8A6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8257032" y="2098548"/>
            <a:ext cx="2414016" cy="32918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3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Capture : invoices / subscriptions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1051560" y="3977640"/>
            <a:ext cx="9326880" cy="10972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Bulletins et contrats</a:t>
            </a: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Demandes de documents</a:t>
            </a: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Congés et absences</a:t>
            </a: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Tickets support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3D3E"/>
          </a:solidFill>
          <a:ln w="12700">
            <a:solidFill>
              <a:srgbClr val="0F3D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329184"/>
            <a:ext cx="2468880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SÉCURITÉ SAAS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30352" y="585216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F3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accès sensibles sont filtrés par rôle, société et ressource</a:t>
            </a:r>
            <a:endParaRPr lang="en-US" sz="2500" dirty="0"/>
          </a:p>
        </p:txBody>
      </p:sp>
      <p:pic>
        <p:nvPicPr>
          <p:cNvPr id="5" name="Image 0" descr="C:\laragon\www\smartrh-maroc\public\images\branding\smartrh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46920" y="292608"/>
            <a:ext cx="1920240" cy="4572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2920" y="6446520"/>
            <a:ext cx="11201400" cy="0"/>
          </a:xfrm>
          <a:prstGeom prst="line">
            <a:avLst/>
          </a:prstGeom>
          <a:noFill/>
          <a:ln w="12700">
            <a:solidFill>
              <a:srgbClr val="DDEBE9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30352" y="6510528"/>
            <a:ext cx="2103120" cy="164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SmartRH Maroc</a:t>
            </a: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>
            <a:off x="11292840" y="6473952"/>
            <a:ext cx="41148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F3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713232" y="1572768"/>
            <a:ext cx="7406640" cy="34747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Spatie Permission pour rôles et permissions</a:t>
            </a:r>
            <a:endParaRPr lang="en-US" sz="1700" dirty="0"/>
          </a:p>
          <a:p>
            <a:pPr marL="152400" indent="-1524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Policies Laravel par ressource</a:t>
            </a:r>
            <a:endParaRPr lang="en-US" sz="1700" dirty="0"/>
          </a:p>
          <a:p>
            <a:pPr marL="152400" indent="-1524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Stockage privé pour PDF</a:t>
            </a:r>
            <a:endParaRPr lang="en-US" sz="1700" dirty="0"/>
          </a:p>
          <a:p>
            <a:pPr marL="152400" indent="-1524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Exports filtrés par société</a:t>
            </a:r>
            <a:endParaRPr lang="en-US" sz="1700" dirty="0"/>
          </a:p>
          <a:p>
            <a:pPr marL="152400" indent="-1524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logs des actions importantes</a:t>
            </a:r>
            <a:endParaRPr lang="en-US" sz="1700" dirty="0"/>
          </a:p>
        </p:txBody>
      </p:sp>
      <p:sp>
        <p:nvSpPr>
          <p:cNvPr id="11" name="Shape 7"/>
          <p:cNvSpPr/>
          <p:nvPr/>
        </p:nvSpPr>
        <p:spPr>
          <a:xfrm>
            <a:off x="8458200" y="1691640"/>
            <a:ext cx="2423160" cy="1783080"/>
          </a:xfrm>
          <a:prstGeom prst="roundRect">
            <a:avLst>
              <a:gd name="adj" fmla="val 3077"/>
            </a:avLst>
          </a:prstGeom>
          <a:solidFill>
            <a:srgbClr val="ECFEFF"/>
          </a:solidFill>
          <a:ln w="12700">
            <a:solidFill>
              <a:srgbClr val="D7E9E6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8622792" y="1819656"/>
            <a:ext cx="2093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Preuve projet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8622792" y="2130552"/>
            <a:ext cx="2093976" cy="12801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Modules vérifiés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inspecté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Docs consultées</a:t>
            </a:r>
            <a:endParaRPr lang="en-US" sz="13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3D3E"/>
          </a:solidFill>
          <a:ln w="12700">
            <a:solidFill>
              <a:srgbClr val="0F3D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329184"/>
            <a:ext cx="2468880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30352" y="585216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F3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suite automatisée confirme 132 tests passés et 545 assertions</a:t>
            </a:r>
            <a:endParaRPr lang="en-US" sz="2500" dirty="0"/>
          </a:p>
        </p:txBody>
      </p:sp>
      <p:pic>
        <p:nvPicPr>
          <p:cNvPr id="5" name="Image 0" descr="C:\laragon\www\smartrh-maroc\public\images\branding\smartrh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46920" y="292608"/>
            <a:ext cx="1920240" cy="4572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2920" y="6446520"/>
            <a:ext cx="11201400" cy="0"/>
          </a:xfrm>
          <a:prstGeom prst="line">
            <a:avLst/>
          </a:prstGeom>
          <a:noFill/>
          <a:ln w="12700">
            <a:solidFill>
              <a:srgbClr val="DDEBE9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30352" y="6510528"/>
            <a:ext cx="2103120" cy="164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SmartRH Maroc</a:t>
            </a: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>
            <a:off x="11292840" y="6473952"/>
            <a:ext cx="41148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F3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713232" y="1572768"/>
            <a:ext cx="7406640" cy="34747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Paie et API de calcul</a:t>
            </a:r>
            <a:endParaRPr lang="en-US" sz="1700" dirty="0"/>
          </a:p>
          <a:p>
            <a:pPr marL="152400" indent="-1524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Documents RH et PDF</a:t>
            </a:r>
            <a:endParaRPr lang="en-US" sz="1700" dirty="0"/>
          </a:p>
          <a:p>
            <a:pPr marL="152400" indent="-1524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Portail salarié et sécurité</a:t>
            </a:r>
            <a:endParaRPr lang="en-US" sz="1700" dirty="0"/>
          </a:p>
          <a:p>
            <a:pPr marL="152400" indent="-1524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Import/export Excel et CSV</a:t>
            </a:r>
            <a:endParaRPr lang="en-US" sz="1700" dirty="0"/>
          </a:p>
          <a:p>
            <a:pPr marL="152400" indent="-1524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Abonnements, factures, support</a:t>
            </a:r>
            <a:endParaRPr lang="en-US" sz="1700" dirty="0"/>
          </a:p>
        </p:txBody>
      </p:sp>
      <p:sp>
        <p:nvSpPr>
          <p:cNvPr id="11" name="Shape 7"/>
          <p:cNvSpPr/>
          <p:nvPr/>
        </p:nvSpPr>
        <p:spPr>
          <a:xfrm>
            <a:off x="8458200" y="1691640"/>
            <a:ext cx="2423160" cy="1783080"/>
          </a:xfrm>
          <a:prstGeom prst="roundRect">
            <a:avLst>
              <a:gd name="adj" fmla="val 3077"/>
            </a:avLst>
          </a:prstGeom>
          <a:solidFill>
            <a:srgbClr val="ECFEFF"/>
          </a:solidFill>
          <a:ln w="12700">
            <a:solidFill>
              <a:srgbClr val="D7E9E6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8622792" y="1819656"/>
            <a:ext cx="2093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Preuve projet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8622792" y="2130552"/>
            <a:ext cx="2093976" cy="12801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 confirmés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132 passés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545 assertions</a:t>
            </a:r>
            <a:endParaRPr lang="en-US" sz="13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3D3E"/>
          </a:solidFill>
          <a:ln w="12700">
            <a:solidFill>
              <a:srgbClr val="0F3D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329184"/>
            <a:ext cx="2468880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30352" y="585216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F3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MVP est prêt pour démonstration, avec validation métier avant production</a:t>
            </a:r>
            <a:endParaRPr lang="en-US" sz="2500" dirty="0"/>
          </a:p>
        </p:txBody>
      </p:sp>
      <p:pic>
        <p:nvPicPr>
          <p:cNvPr id="5" name="Image 0" descr="C:\laragon\www\smartrh-maroc\public\images\branding\smartrh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46920" y="292608"/>
            <a:ext cx="1920240" cy="4572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2920" y="6446520"/>
            <a:ext cx="11201400" cy="0"/>
          </a:xfrm>
          <a:prstGeom prst="line">
            <a:avLst/>
          </a:prstGeom>
          <a:noFill/>
          <a:ln w="12700">
            <a:solidFill>
              <a:srgbClr val="DDEBE9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30352" y="6510528"/>
            <a:ext cx="2103120" cy="164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SmartRH Maroc</a:t>
            </a: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>
            <a:off x="11292840" y="6473952"/>
            <a:ext cx="41148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F3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713232" y="1572768"/>
            <a:ext cx="7406640" cy="34747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SaaS cohérente et testée</a:t>
            </a:r>
            <a:endParaRPr lang="en-US" sz="1700" dirty="0"/>
          </a:p>
          <a:p>
            <a:pPr marL="152400" indent="-1524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Modules RH, paie, documents et billing opérationnels</a:t>
            </a:r>
            <a:endParaRPr lang="en-US" sz="1700" dirty="0"/>
          </a:p>
          <a:p>
            <a:pPr marL="152400" indent="-1524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Perspectives : validation légale, monitoring, sauvegardes</a:t>
            </a:r>
            <a:endParaRPr lang="en-US" sz="1700" dirty="0"/>
          </a:p>
          <a:p>
            <a:pPr marL="152400" indent="-1524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Captures finales à remplacer dans un environnement de démo</a:t>
            </a:r>
            <a:endParaRPr lang="en-US" sz="1700" dirty="0"/>
          </a:p>
        </p:txBody>
      </p:sp>
      <p:sp>
        <p:nvSpPr>
          <p:cNvPr id="11" name="Shape 7"/>
          <p:cNvSpPr/>
          <p:nvPr/>
        </p:nvSpPr>
        <p:spPr>
          <a:xfrm>
            <a:off x="8458200" y="1691640"/>
            <a:ext cx="2423160" cy="1783080"/>
          </a:xfrm>
          <a:prstGeom prst="roundRect">
            <a:avLst>
              <a:gd name="adj" fmla="val 3077"/>
            </a:avLst>
          </a:prstGeom>
          <a:solidFill>
            <a:srgbClr val="ECFEFF"/>
          </a:solidFill>
          <a:ln w="12700">
            <a:solidFill>
              <a:srgbClr val="D7E9E6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8622792" y="1819656"/>
            <a:ext cx="2093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Preuve projet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8622792" y="2130552"/>
            <a:ext cx="2093976" cy="12801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Modules vérifiés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inspecté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Docs consultées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ISTA CPFM Skhirat / LN WEB APP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SmartRH Maroc</dc:title>
  <dc:subject>Soutenance de stage - SmartRH Maroc</dc:subject>
  <dc:creator>Wassim Hanati</dc:creator>
  <cp:lastModifiedBy>Wassim Hanati</cp:lastModifiedBy>
  <cp:revision>1</cp:revision>
  <dcterms:created xsi:type="dcterms:W3CDTF">2026-06-14T12:24:19Z</dcterms:created>
  <dcterms:modified xsi:type="dcterms:W3CDTF">2026-06-14T12:24:19Z</dcterms:modified>
</cp:coreProperties>
</file>